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71" r:id="rId8"/>
    <p:sldId id="262" r:id="rId9"/>
    <p:sldId id="263" r:id="rId10"/>
    <p:sldId id="264" r:id="rId11"/>
    <p:sldId id="266" r:id="rId12"/>
    <p:sldId id="269" r:id="rId13"/>
    <p:sldId id="267" r:id="rId14"/>
    <p:sldId id="268" r:id="rId15"/>
    <p:sldId id="270" r:id="rId16"/>
    <p:sldId id="265" r:id="rId17"/>
  </p:sldIdLst>
  <p:sldSz cx="18288000" cy="10287000"/>
  <p:notesSz cx="6858000" cy="9144000"/>
  <p:embeddedFontLst>
    <p:embeddedFont>
      <p:font typeface="Bookman Old Style" panose="02050604050505020204" pitchFamily="18" charset="0"/>
      <p:regular r:id="rId18"/>
      <p:bold r:id="rId19"/>
      <p:italic r:id="rId20"/>
      <p:boldItalic r:id="rId21"/>
    </p:embeddedFont>
    <p:embeddedFont>
      <p:font typeface="Cambria" panose="02040503050406030204" pitchFamily="18" charset="0"/>
      <p:regular r:id="rId22"/>
      <p:bold r:id="rId23"/>
      <p:italic r:id="rId24"/>
      <p:boldItalic r:id="rId25"/>
    </p:embeddedFont>
    <p:embeddedFont>
      <p:font typeface="Gotham" panose="020B0604020202020204" charset="0"/>
      <p:regular r:id="rId26"/>
    </p:embeddedFont>
    <p:embeddedFont>
      <p:font typeface="Gotham Bold Italic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29"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09-03-2026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PROJECT TITLE</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K.LEELA LASYA PRIYA– VTU26551 – 23UECS1088.</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SDG Title(Example: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10649069"/>
          </a:xfrm>
          <a:prstGeom prst="rect">
            <a:avLst/>
          </a:prstGeom>
          <a:noFill/>
        </p:spPr>
        <p:txBody>
          <a:bodyPr wrap="square" rtlCol="0">
            <a:spAutoFit/>
          </a:bodyPr>
          <a:lstStyle/>
          <a:p>
            <a:pPr>
              <a:lnSpc>
                <a:spcPct val="150000"/>
              </a:lnSpc>
            </a:pPr>
            <a:r>
              <a:rPr lang="en-US" sz="2800" dirty="0"/>
              <a:t>Online learning platforms have become an essential part of modern education. Students require flexible access to learning resources such as video lectures, notes, and quizzes from anywhere. Traditional classroom learning alone cannot always meet the needs of today's digital learners. Therefore, an efficient online learning system is necessary to support interactive and accessible education. </a:t>
            </a:r>
            <a:r>
              <a:rPr lang="en-US" sz="2800" dirty="0" err="1"/>
              <a:t>SkillForge</a:t>
            </a:r>
            <a:r>
              <a:rPr lang="en-US" sz="2800" dirty="0"/>
              <a:t> is an online learning management system designed to provide structured digital learning. It allows users to enroll in courses, watch video lessons, download notes, and track their learning progress. The system also includes quizzes and certificate generation to evaluate student performance. Overall, </a:t>
            </a:r>
            <a:r>
              <a:rPr lang="en-US" sz="2800" dirty="0" err="1"/>
              <a:t>SkillForge</a:t>
            </a:r>
            <a:r>
              <a:rPr lang="en-US" sz="2800" dirty="0"/>
              <a:t> aims to create an easy, organized, and effective learning environment for students.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5842497"/>
          </a:xfrm>
          <a:prstGeom prst="rect">
            <a:avLst/>
          </a:prstGeom>
          <a:noFill/>
        </p:spPr>
        <p:txBody>
          <a:bodyPr wrap="square" rtlCol="0">
            <a:spAutoFit/>
          </a:bodyPr>
          <a:lstStyle/>
          <a:p>
            <a:pPr>
              <a:lnSpc>
                <a:spcPct val="150000"/>
              </a:lnSpc>
            </a:pPr>
            <a:r>
              <a:rPr lang="en-US" sz="2800" dirty="0"/>
              <a:t>Existing learning systems often lack a centralized platform for managing courses, lessons, and study materials efficiently. Many students face difficulty accessing organized learning resources in one place. Traditional systems may rely on manual processes for managing course content and tracking student progress. This leads to inefficiency in delivering educational materials and monitoring learning outcomes. Students also require flexible learning environments that allow them to access courses anytime and anywhere. Therefore, there is a need for a simple, reliable, and automated online learning management system. The proposed system aims to provide structured course management with video lessons, downloadable notes, quizzes, and progress tracking. This system improves accessibility, organization, and effectiveness of digital learning.</a:t>
            </a: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4401205"/>
          </a:xfrm>
          <a:prstGeom prst="rect">
            <a:avLst/>
          </a:prstGeom>
          <a:noFill/>
        </p:spPr>
        <p:txBody>
          <a:bodyPr wrap="square" rtlCol="0">
            <a:spAutoFit/>
          </a:bodyPr>
          <a:lstStyle/>
          <a:p>
            <a:pPr>
              <a:lnSpc>
                <a:spcPct val="150000"/>
              </a:lnSpc>
            </a:pPr>
            <a:r>
              <a:rPr lang="en-US" sz="2800" b="1" dirty="0"/>
              <a:t>Objective 1:</a:t>
            </a:r>
            <a:br>
              <a:rPr lang="en-US" sz="2800" dirty="0"/>
            </a:br>
            <a:r>
              <a:rPr lang="en-US" sz="2800" dirty="0"/>
              <a:t>To design and develop an online learning management system that allows users to access courses, video lessons, notes, and quizzes in a structured way.</a:t>
            </a:r>
          </a:p>
          <a:p>
            <a:pPr>
              <a:lnSpc>
                <a:spcPct val="150000"/>
              </a:lnSpc>
            </a:pPr>
            <a:r>
              <a:rPr lang="en-US" sz="2800" b="1" dirty="0"/>
              <a:t>Objective 2:</a:t>
            </a:r>
            <a:br>
              <a:rPr lang="en-US" sz="2800" dirty="0"/>
            </a:br>
            <a:r>
              <a:rPr lang="en-US" sz="2800" dirty="0"/>
              <a:t>To implement a system that tracks student learning progress and improves accessibility to digital learning resources.</a:t>
            </a:r>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6986528"/>
          </a:xfrm>
          <a:prstGeom prst="rect">
            <a:avLst/>
          </a:prstGeom>
          <a:noFill/>
        </p:spPr>
        <p:txBody>
          <a:bodyPr wrap="square" rtlCol="0">
            <a:spAutoFit/>
          </a:bodyPr>
          <a:lstStyle/>
          <a:p>
            <a:pPr marL="457200" indent="-457200">
              <a:buFont typeface="Arial" panose="020B0604020202020204" pitchFamily="34" charset="0"/>
              <a:buChar char="•"/>
            </a:pPr>
            <a:r>
              <a:rPr lang="en-US" sz="2800" dirty="0"/>
              <a:t>The proposed system is an online learning platform that allows students to access courses, video lessons, notes, and quizzes in a structured way.</a:t>
            </a:r>
          </a:p>
          <a:p>
            <a:pPr marL="457200" indent="-457200">
              <a:buFont typeface="Arial" panose="020B0604020202020204" pitchFamily="34" charset="0"/>
              <a:buChar char="•"/>
            </a:pPr>
            <a:r>
              <a:rPr lang="en-US" sz="2800" dirty="0"/>
              <a:t>It provides a centralized system where users can easily enroll in courses and start learning from anywhere.</a:t>
            </a:r>
          </a:p>
          <a:p>
            <a:pPr marL="457200" indent="-457200">
              <a:buFont typeface="Arial" panose="020B0604020202020204" pitchFamily="34" charset="0"/>
              <a:buChar char="•"/>
            </a:pPr>
            <a:r>
              <a:rPr lang="en-US" sz="2800" dirty="0"/>
              <a:t>Admins can manage courses , upload lessons, videos and study materials through an admin panel.</a:t>
            </a:r>
          </a:p>
          <a:p>
            <a:pPr marL="457200" indent="-457200">
              <a:buFont typeface="Arial" panose="020B0604020202020204" pitchFamily="34" charset="0"/>
              <a:buChar char="•"/>
            </a:pPr>
            <a:r>
              <a:rPr lang="en-US" sz="2800" dirty="0"/>
              <a:t>Students can watch video lectures , download notes , and complete quizzes for better understanding.</a:t>
            </a:r>
          </a:p>
          <a:p>
            <a:pPr marL="457200" indent="-457200">
              <a:buFont typeface="Arial" panose="020B0604020202020204" pitchFamily="34" charset="0"/>
              <a:buChar char="•"/>
            </a:pPr>
            <a:r>
              <a:rPr lang="en-US" sz="2800" dirty="0"/>
              <a:t>The system tracks student progress by marking lessons as completed.</a:t>
            </a:r>
          </a:p>
          <a:p>
            <a:pPr marL="457200" indent="-457200">
              <a:buFont typeface="Arial" panose="020B0604020202020204" pitchFamily="34" charset="0"/>
              <a:buChar char="•"/>
            </a:pPr>
            <a:r>
              <a:rPr lang="en-US" sz="2800" dirty="0"/>
              <a:t>It reduces manual management of course materials and improves organization of learning content.</a:t>
            </a:r>
          </a:p>
          <a:p>
            <a:pPr marL="457200" indent="-457200">
              <a:buFont typeface="Arial" panose="020B0604020202020204" pitchFamily="34" charset="0"/>
              <a:buChar char="•"/>
            </a:pPr>
            <a:r>
              <a:rPr lang="en-US" sz="2800" dirty="0"/>
              <a:t>The platform provides a user-friendly interface for easy navigation and learning.</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281205" y="1185734"/>
            <a:ext cx="15082325" cy="13880723"/>
          </a:xfrm>
          <a:prstGeom prst="rect">
            <a:avLst/>
          </a:prstGeom>
          <a:noFill/>
        </p:spPr>
        <p:txBody>
          <a:bodyPr wrap="square" rtlCol="0">
            <a:spAutoFit/>
          </a:bodyPr>
          <a:lstStyle/>
          <a:p>
            <a:r>
              <a:rPr lang="en-US" sz="2800" b="1" dirty="0"/>
              <a:t>Input</a:t>
            </a:r>
          </a:p>
          <a:p>
            <a:r>
              <a:rPr lang="en-US" sz="2800" dirty="0"/>
              <a:t>User registration and login details.</a:t>
            </a:r>
          </a:p>
          <a:p>
            <a:r>
              <a:rPr lang="en-US" sz="2800" dirty="0"/>
              <a:t>Course selection and enrollment by students.</a:t>
            </a:r>
          </a:p>
          <a:p>
            <a:r>
              <a:rPr lang="en-US" sz="2800" dirty="0"/>
              <a:t>Admin inputs course details, lessons, videos, notes, and quizzes.</a:t>
            </a:r>
          </a:p>
          <a:p>
            <a:r>
              <a:rPr lang="en-US" sz="2800" dirty="0"/>
              <a:t>Student interactions like watching videos and marking lessons as completed.</a:t>
            </a:r>
          </a:p>
          <a:p>
            <a:r>
              <a:rPr lang="en-US" sz="2800" b="1" dirty="0"/>
              <a:t>Processing</a:t>
            </a:r>
          </a:p>
          <a:p>
            <a:r>
              <a:rPr lang="en-US" sz="2800" dirty="0"/>
              <a:t>The system authenticates users during login.</a:t>
            </a:r>
          </a:p>
          <a:p>
            <a:r>
              <a:rPr lang="en-US" sz="2800" dirty="0"/>
              <a:t>It processes course enrollment and lesson access.</a:t>
            </a:r>
          </a:p>
          <a:p>
            <a:r>
              <a:rPr lang="en-US" sz="2800" dirty="0"/>
              <a:t>Tracks user learning progress and completed lessons.</a:t>
            </a:r>
          </a:p>
          <a:p>
            <a:r>
              <a:rPr lang="en-US" sz="2800" dirty="0"/>
              <a:t>Manages course content uploaded by the admin.</a:t>
            </a:r>
          </a:p>
          <a:p>
            <a:r>
              <a:rPr lang="en-US" sz="2800" b="1" dirty="0"/>
              <a:t>Database</a:t>
            </a:r>
          </a:p>
          <a:p>
            <a:r>
              <a:rPr lang="en-US" sz="2800" dirty="0"/>
              <a:t>Stores user information, login credentials, and profiles.</a:t>
            </a:r>
          </a:p>
          <a:p>
            <a:r>
              <a:rPr lang="en-US" sz="2800" dirty="0"/>
              <a:t>Stores courses, lessons, videos, notes, and quiz details.</a:t>
            </a:r>
          </a:p>
          <a:p>
            <a:r>
              <a:rPr lang="en-US" sz="2800" dirty="0"/>
              <a:t>Maintains student progress and enrollment data.</a:t>
            </a:r>
          </a:p>
          <a:p>
            <a:r>
              <a:rPr lang="en-US" sz="2800" dirty="0"/>
              <a:t>Database used: </a:t>
            </a:r>
            <a:r>
              <a:rPr lang="en-US" sz="2800" b="1" dirty="0"/>
              <a:t>MySQL</a:t>
            </a:r>
            <a:r>
              <a:rPr lang="en-US" sz="2800" dirty="0"/>
              <a:t>.</a:t>
            </a:r>
          </a:p>
          <a:p>
            <a:r>
              <a:rPr lang="en-US" sz="2800" b="1" dirty="0"/>
              <a:t>Output</a:t>
            </a:r>
          </a:p>
          <a:p>
            <a:r>
              <a:rPr lang="en-US" sz="2800" dirty="0"/>
              <a:t>Displays available courses to users.</a:t>
            </a:r>
          </a:p>
          <a:p>
            <a:r>
              <a:rPr lang="en-US" sz="2800" dirty="0"/>
              <a:t>Shows video lessons, downloadable notes, and quizzes.</a:t>
            </a:r>
          </a:p>
          <a:p>
            <a:r>
              <a:rPr lang="en-US" sz="2800" dirty="0"/>
              <a:t>Displays progress tracking and completion status.</a:t>
            </a:r>
          </a:p>
          <a:p>
            <a:r>
              <a:rPr lang="en-US" sz="2800" dirty="0"/>
              <a:t>Provides certificates or completion confirmation.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7A57C5CE-3F6E-1F06-894A-BB3813DFE718}"/>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DA8C68DC-DEC1-715A-6475-A3CFD1B31EDB}"/>
              </a:ext>
            </a:extLst>
          </p:cNvPr>
          <p:cNvGrpSpPr/>
          <p:nvPr/>
        </p:nvGrpSpPr>
        <p:grpSpPr>
          <a:xfrm>
            <a:off x="709357" y="4655766"/>
            <a:ext cx="992463" cy="992463"/>
            <a:chOff x="0" y="0"/>
            <a:chExt cx="812800" cy="812800"/>
          </a:xfrm>
        </p:grpSpPr>
        <p:sp>
          <p:nvSpPr>
            <p:cNvPr id="6" name="Freeform 6">
              <a:extLst>
                <a:ext uri="{FF2B5EF4-FFF2-40B4-BE49-F238E27FC236}">
                  <a16:creationId xmlns:a16="http://schemas.microsoft.com/office/drawing/2014/main" id="{81A5AE89-DFF5-451E-CBF2-AB2FB85E1C3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CD415ED0-0868-4C00-B38D-AC8EA6BF2FA8}"/>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a:extLst>
              <a:ext uri="{FF2B5EF4-FFF2-40B4-BE49-F238E27FC236}">
                <a16:creationId xmlns:a16="http://schemas.microsoft.com/office/drawing/2014/main" id="{1CC10843-B37D-4137-D3FB-8830968CD976}"/>
              </a:ext>
            </a:extLst>
          </p:cNvPr>
          <p:cNvGrpSpPr/>
          <p:nvPr/>
        </p:nvGrpSpPr>
        <p:grpSpPr>
          <a:xfrm>
            <a:off x="951509" y="3320505"/>
            <a:ext cx="508158" cy="543805"/>
            <a:chOff x="0" y="0"/>
            <a:chExt cx="812800" cy="869819"/>
          </a:xfrm>
        </p:grpSpPr>
        <p:sp>
          <p:nvSpPr>
            <p:cNvPr id="9" name="Freeform 9">
              <a:extLst>
                <a:ext uri="{FF2B5EF4-FFF2-40B4-BE49-F238E27FC236}">
                  <a16:creationId xmlns:a16="http://schemas.microsoft.com/office/drawing/2014/main" id="{1778B79B-36FD-6241-85B8-3BE12F9277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B6B2CCCC-79E7-86EA-A48E-16B954605AB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9E2E5C2-FD01-6124-DA1A-F890C1E20B86}"/>
              </a:ext>
            </a:extLst>
          </p:cNvPr>
          <p:cNvGrpSpPr/>
          <p:nvPr/>
        </p:nvGrpSpPr>
        <p:grpSpPr>
          <a:xfrm>
            <a:off x="951509" y="1987111"/>
            <a:ext cx="508158" cy="543805"/>
            <a:chOff x="0" y="0"/>
            <a:chExt cx="812800" cy="869819"/>
          </a:xfrm>
        </p:grpSpPr>
        <p:sp>
          <p:nvSpPr>
            <p:cNvPr id="12" name="Freeform 12">
              <a:extLst>
                <a:ext uri="{FF2B5EF4-FFF2-40B4-BE49-F238E27FC236}">
                  <a16:creationId xmlns:a16="http://schemas.microsoft.com/office/drawing/2014/main" id="{F9D00E8C-8CA1-6455-322D-807E11892E3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F1A93B0F-9C51-BCAC-FF4F-5321E59F3D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636BE629-23E8-FA60-7978-7E6C67A0BEFA}"/>
              </a:ext>
            </a:extLst>
          </p:cNvPr>
          <p:cNvGrpSpPr/>
          <p:nvPr/>
        </p:nvGrpSpPr>
        <p:grpSpPr>
          <a:xfrm>
            <a:off x="951509" y="3988135"/>
            <a:ext cx="508158" cy="543805"/>
            <a:chOff x="0" y="0"/>
            <a:chExt cx="812800" cy="869819"/>
          </a:xfrm>
        </p:grpSpPr>
        <p:sp>
          <p:nvSpPr>
            <p:cNvPr id="15" name="Freeform 15">
              <a:extLst>
                <a:ext uri="{FF2B5EF4-FFF2-40B4-BE49-F238E27FC236}">
                  <a16:creationId xmlns:a16="http://schemas.microsoft.com/office/drawing/2014/main" id="{788ACF28-795F-0D3F-F6EA-15EB35E0EC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D39DE145-4249-8135-6340-44418855C2B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5160FAF-AE32-7B33-8CD3-0F46DBE11BEF}"/>
              </a:ext>
            </a:extLst>
          </p:cNvPr>
          <p:cNvGrpSpPr/>
          <p:nvPr/>
        </p:nvGrpSpPr>
        <p:grpSpPr>
          <a:xfrm>
            <a:off x="951509" y="2652874"/>
            <a:ext cx="508158" cy="543805"/>
            <a:chOff x="0" y="0"/>
            <a:chExt cx="812800" cy="869819"/>
          </a:xfrm>
        </p:grpSpPr>
        <p:sp>
          <p:nvSpPr>
            <p:cNvPr id="18" name="Freeform 18">
              <a:extLst>
                <a:ext uri="{FF2B5EF4-FFF2-40B4-BE49-F238E27FC236}">
                  <a16:creationId xmlns:a16="http://schemas.microsoft.com/office/drawing/2014/main" id="{EA022FB8-8AD9-CD28-3BE6-2B3A46BF8B8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9E221CA2-215E-B811-A866-1006F223A42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6790222F-5529-FE33-DD95-08BF74FD4FED}"/>
              </a:ext>
            </a:extLst>
          </p:cNvPr>
          <p:cNvGrpSpPr/>
          <p:nvPr/>
        </p:nvGrpSpPr>
        <p:grpSpPr>
          <a:xfrm>
            <a:off x="951509" y="6430348"/>
            <a:ext cx="508158" cy="543805"/>
            <a:chOff x="0" y="0"/>
            <a:chExt cx="812800" cy="869819"/>
          </a:xfrm>
        </p:grpSpPr>
        <p:sp>
          <p:nvSpPr>
            <p:cNvPr id="21" name="Freeform 21">
              <a:extLst>
                <a:ext uri="{FF2B5EF4-FFF2-40B4-BE49-F238E27FC236}">
                  <a16:creationId xmlns:a16="http://schemas.microsoft.com/office/drawing/2014/main" id="{351EC4B7-598F-4F6A-B1F5-86AB359390B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F521CF5B-6F9E-44F7-EBA2-9F52B1D4EC9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a:extLst>
              <a:ext uri="{FF2B5EF4-FFF2-40B4-BE49-F238E27FC236}">
                <a16:creationId xmlns:a16="http://schemas.microsoft.com/office/drawing/2014/main" id="{1AD45F95-2F1F-1D84-4CCF-620786728EE3}"/>
              </a:ext>
            </a:extLst>
          </p:cNvPr>
          <p:cNvGrpSpPr/>
          <p:nvPr/>
        </p:nvGrpSpPr>
        <p:grpSpPr>
          <a:xfrm>
            <a:off x="951509" y="5764584"/>
            <a:ext cx="508158" cy="543805"/>
            <a:chOff x="0" y="0"/>
            <a:chExt cx="812800" cy="869819"/>
          </a:xfrm>
        </p:grpSpPr>
        <p:sp>
          <p:nvSpPr>
            <p:cNvPr id="24" name="Freeform 24">
              <a:extLst>
                <a:ext uri="{FF2B5EF4-FFF2-40B4-BE49-F238E27FC236}">
                  <a16:creationId xmlns:a16="http://schemas.microsoft.com/office/drawing/2014/main" id="{457B0DCD-D930-6020-9A18-11EAD737A6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B36268B-87A0-639E-5E70-C8D6B13C8B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a:extLst>
              <a:ext uri="{FF2B5EF4-FFF2-40B4-BE49-F238E27FC236}">
                <a16:creationId xmlns:a16="http://schemas.microsoft.com/office/drawing/2014/main" id="{A7E84CA4-9BC2-72CC-F3BC-D02BA2F6AFA9}"/>
              </a:ext>
            </a:extLst>
          </p:cNvPr>
          <p:cNvGrpSpPr/>
          <p:nvPr/>
        </p:nvGrpSpPr>
        <p:grpSpPr>
          <a:xfrm>
            <a:off x="951509" y="7088453"/>
            <a:ext cx="508158" cy="543805"/>
            <a:chOff x="0" y="0"/>
            <a:chExt cx="812800" cy="869819"/>
          </a:xfrm>
        </p:grpSpPr>
        <p:sp>
          <p:nvSpPr>
            <p:cNvPr id="27" name="Freeform 27">
              <a:extLst>
                <a:ext uri="{FF2B5EF4-FFF2-40B4-BE49-F238E27FC236}">
                  <a16:creationId xmlns:a16="http://schemas.microsoft.com/office/drawing/2014/main" id="{B4EC5C5A-245C-F627-7A25-EB105DD61DD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7674FAAD-03F3-360A-7FCA-4EA8E1B8FCA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a:extLst>
              <a:ext uri="{FF2B5EF4-FFF2-40B4-BE49-F238E27FC236}">
                <a16:creationId xmlns:a16="http://schemas.microsoft.com/office/drawing/2014/main" id="{9B60A197-686A-C4C0-220A-FDA2A35AC6DF}"/>
              </a:ext>
            </a:extLst>
          </p:cNvPr>
          <p:cNvGrpSpPr/>
          <p:nvPr/>
        </p:nvGrpSpPr>
        <p:grpSpPr>
          <a:xfrm>
            <a:off x="951509" y="7756083"/>
            <a:ext cx="508158" cy="543805"/>
            <a:chOff x="0" y="0"/>
            <a:chExt cx="812800" cy="869819"/>
          </a:xfrm>
        </p:grpSpPr>
        <p:sp>
          <p:nvSpPr>
            <p:cNvPr id="30" name="Freeform 30">
              <a:extLst>
                <a:ext uri="{FF2B5EF4-FFF2-40B4-BE49-F238E27FC236}">
                  <a16:creationId xmlns:a16="http://schemas.microsoft.com/office/drawing/2014/main" id="{A1C13E96-4D83-8B2A-48AE-37599E5277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89FC56AF-8290-01FB-06D2-D82512E5977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a:extLst>
              <a:ext uri="{FF2B5EF4-FFF2-40B4-BE49-F238E27FC236}">
                <a16:creationId xmlns:a16="http://schemas.microsoft.com/office/drawing/2014/main" id="{727B22C3-7972-77F0-D660-408CC6C3E680}"/>
              </a:ext>
            </a:extLst>
          </p:cNvPr>
          <p:cNvGrpSpPr/>
          <p:nvPr/>
        </p:nvGrpSpPr>
        <p:grpSpPr>
          <a:xfrm>
            <a:off x="11762088" y="-9632634"/>
            <a:ext cx="10994424" cy="10994424"/>
            <a:chOff x="0" y="0"/>
            <a:chExt cx="812800" cy="812800"/>
          </a:xfrm>
        </p:grpSpPr>
        <p:sp>
          <p:nvSpPr>
            <p:cNvPr id="38" name="Freeform 38">
              <a:extLst>
                <a:ext uri="{FF2B5EF4-FFF2-40B4-BE49-F238E27FC236}">
                  <a16:creationId xmlns:a16="http://schemas.microsoft.com/office/drawing/2014/main" id="{13FE71BF-5F77-BBAF-34AE-ECF3DE415C7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a:extLst>
                <a:ext uri="{FF2B5EF4-FFF2-40B4-BE49-F238E27FC236}">
                  <a16:creationId xmlns:a16="http://schemas.microsoft.com/office/drawing/2014/main" id="{00BE5B06-653C-F4C2-1D84-62C1EE8FF658}"/>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F44DB967-5B2B-7580-6D7F-E5F2741836D4}"/>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5C2C43C1-AA20-75F3-1782-7B861F4A5FF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31B50A6-22C4-119E-B676-AF16DE25A3DD}"/>
              </a:ext>
            </a:extLst>
          </p:cNvPr>
          <p:cNvPicPr>
            <a:picLocks noChangeAspect="1"/>
          </p:cNvPicPr>
          <p:nvPr/>
        </p:nvPicPr>
        <p:blipFill>
          <a:blip r:embed="rId4"/>
          <a:stretch>
            <a:fillRect/>
          </a:stretch>
        </p:blipFill>
        <p:spPr>
          <a:xfrm>
            <a:off x="4267200" y="2481262"/>
            <a:ext cx="9753600" cy="5324475"/>
          </a:xfrm>
          <a:prstGeom prst="rect">
            <a:avLst/>
          </a:prstGeom>
        </p:spPr>
      </p:pic>
    </p:spTree>
    <p:extLst>
      <p:ext uri="{BB962C8B-B14F-4D97-AF65-F5344CB8AC3E}">
        <p14:creationId xmlns:p14="http://schemas.microsoft.com/office/powerpoint/2010/main" val="1989249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164943" y="1732032"/>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0BC08C10-33CD-ADAA-03F2-6698FDDF02D6}"/>
              </a:ext>
            </a:extLst>
          </p:cNvPr>
          <p:cNvPicPr>
            <a:picLocks noChangeAspect="1"/>
          </p:cNvPicPr>
          <p:nvPr/>
        </p:nvPicPr>
        <p:blipFill>
          <a:blip r:embed="rId4"/>
          <a:stretch>
            <a:fillRect/>
          </a:stretch>
        </p:blipFill>
        <p:spPr>
          <a:xfrm>
            <a:off x="4267200" y="2481262"/>
            <a:ext cx="9753600" cy="53244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8279190"/>
          </a:xfrm>
          <a:prstGeom prst="rect">
            <a:avLst/>
          </a:prstGeom>
          <a:noFill/>
        </p:spPr>
        <p:txBody>
          <a:bodyPr wrap="square" rtlCol="0">
            <a:spAutoFit/>
          </a:bodyPr>
          <a:lstStyle/>
          <a:p>
            <a:r>
              <a:rPr lang="en-US" sz="2800" dirty="0"/>
              <a:t>Frontend: </a:t>
            </a:r>
          </a:p>
          <a:p>
            <a:r>
              <a:rPr lang="en-US" sz="2800" dirty="0"/>
              <a:t>HTML : Structure of the web pages</a:t>
            </a:r>
          </a:p>
          <a:p>
            <a:r>
              <a:rPr lang="en-US" sz="2800" dirty="0"/>
              <a:t>CSS : </a:t>
            </a:r>
            <a:r>
              <a:rPr lang="en-IN" sz="2800" dirty="0"/>
              <a:t>Styling and layout design</a:t>
            </a:r>
            <a:endParaRPr lang="en-US" sz="2800" dirty="0"/>
          </a:p>
          <a:p>
            <a:r>
              <a:rPr lang="en-US" sz="2800" dirty="0"/>
              <a:t>JavaScript : Client-side interactivity and dynamic content</a:t>
            </a:r>
          </a:p>
          <a:p>
            <a:r>
              <a:rPr lang="en-US" sz="2800" dirty="0"/>
              <a:t>Backend:</a:t>
            </a:r>
          </a:p>
          <a:p>
            <a:r>
              <a:rPr lang="en-US" sz="2800" dirty="0"/>
              <a:t>PHP : Server-side scripting to handle application logic, user authentication, course management, and data processing.</a:t>
            </a:r>
          </a:p>
          <a:p>
            <a:r>
              <a:rPr lang="en-US" sz="2800" dirty="0"/>
              <a:t>Database:</a:t>
            </a:r>
          </a:p>
          <a:p>
            <a:r>
              <a:rPr lang="en-US" sz="2800" dirty="0"/>
              <a:t>MySQL– Used to store and manage system data </a:t>
            </a:r>
          </a:p>
          <a:p>
            <a:r>
              <a:rPr lang="en-US" sz="2800" dirty="0"/>
              <a:t>Tools:</a:t>
            </a:r>
          </a:p>
          <a:p>
            <a:r>
              <a:rPr lang="en-IN" sz="2800" b="1" dirty="0"/>
              <a:t>XAMPP</a:t>
            </a:r>
            <a:r>
              <a:rPr lang="en-IN" sz="2800" dirty="0"/>
              <a:t> – Local server environment for running Apache, PHP, and MySQL</a:t>
            </a:r>
          </a:p>
          <a:p>
            <a:r>
              <a:rPr lang="en-IN" sz="2800" b="1" dirty="0"/>
              <a:t>Visual Studio Code</a:t>
            </a:r>
            <a:r>
              <a:rPr lang="en-IN" sz="2800" dirty="0"/>
              <a:t> – Code editor for development</a:t>
            </a:r>
          </a:p>
          <a:p>
            <a:r>
              <a:rPr lang="en-IN" sz="2800" b="1" dirty="0"/>
              <a:t>phpMyAdmin</a:t>
            </a:r>
            <a:r>
              <a:rPr lang="en-IN" sz="2800" dirty="0"/>
              <a:t> – Database management tool for MySQL</a:t>
            </a:r>
          </a:p>
          <a:p>
            <a:r>
              <a:rPr lang="en-IN" sz="2800" b="1" dirty="0"/>
              <a:t>Web Browser (Chrome/Edge)</a:t>
            </a:r>
            <a:r>
              <a:rPr lang="en-IN" sz="2800" dirty="0"/>
              <a:t> – For testing and running the application</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417415"/>
          </a:xfrm>
          <a:prstGeom prst="rect">
            <a:avLst/>
          </a:prstGeom>
          <a:noFill/>
        </p:spPr>
        <p:txBody>
          <a:bodyPr wrap="square" rtlCol="0">
            <a:spAutoFit/>
          </a:bodyPr>
          <a:lstStyle/>
          <a:p>
            <a:endParaRPr lang="en-IN" sz="2800" b="1" dirty="0"/>
          </a:p>
          <a:p>
            <a:r>
              <a:rPr lang="en-IN" sz="2800" b="1" dirty="0">
                <a:solidFill>
                  <a:srgbClr val="FF0000"/>
                </a:solidFill>
              </a:rPr>
              <a:t>----- Example for reference only ---- (Change according to your project)</a:t>
            </a:r>
          </a:p>
          <a:p>
            <a:endParaRPr lang="en-IN" sz="2800" b="1" dirty="0"/>
          </a:p>
          <a:p>
            <a:r>
              <a:rPr lang="en-IN" sz="2800" b="1" dirty="0"/>
              <a:t>Module 1: User Management</a:t>
            </a:r>
          </a:p>
          <a:p>
            <a:r>
              <a:rPr lang="en-US" sz="2800" dirty="0"/>
              <a:t>Handles user registration, login, and authentication for both students and administrators.</a:t>
            </a:r>
            <a:r>
              <a:rPr lang="en-IN" sz="2800" dirty="0"/>
              <a:t>.</a:t>
            </a:r>
          </a:p>
          <a:p>
            <a:r>
              <a:rPr lang="en-IN" sz="2800" b="1" dirty="0"/>
              <a:t>Module 2</a:t>
            </a:r>
            <a:r>
              <a:rPr lang="en-IN" sz="2800" dirty="0"/>
              <a:t> </a:t>
            </a:r>
            <a:r>
              <a:rPr lang="en-IN" sz="2800" b="1" dirty="0"/>
              <a:t>Course Management</a:t>
            </a:r>
          </a:p>
          <a:p>
            <a:r>
              <a:rPr lang="en-US" sz="2800" dirty="0"/>
              <a:t>Allows the administrator to create, update, and manage courses. </a:t>
            </a:r>
          </a:p>
          <a:p>
            <a:r>
              <a:rPr lang="en-IN" sz="2800" b="1" dirty="0"/>
              <a:t>Module 3: Learning &amp; </a:t>
            </a:r>
            <a:r>
              <a:rPr lang="en-IN" sz="2800" b="1" dirty="0" err="1"/>
              <a:t>Enrollment</a:t>
            </a:r>
            <a:r>
              <a:rPr lang="en-IN" sz="2800" b="1" dirty="0"/>
              <a:t> System</a:t>
            </a:r>
          </a:p>
          <a:p>
            <a:r>
              <a:rPr lang="en-US" sz="2800" dirty="0"/>
              <a:t>Enables students to browse available courses and enroll in them</a:t>
            </a:r>
            <a:r>
              <a:rPr lang="en-IN" sz="2800" dirty="0"/>
              <a:t>.</a:t>
            </a:r>
          </a:p>
          <a:p>
            <a:r>
              <a:rPr lang="en-IN" sz="2800" b="1" dirty="0"/>
              <a:t>Module 4: </a:t>
            </a:r>
            <a:r>
              <a:rPr lang="en-IN" sz="2800" dirty="0"/>
              <a:t>Quiz &amp; Progress Tracking</a:t>
            </a:r>
          </a:p>
          <a:p>
            <a:r>
              <a:rPr lang="en-US" sz="2800" dirty="0"/>
              <a:t>Provides quizzes for evaluating student understanding after lessons.</a:t>
            </a:r>
            <a:endParaRPr lang="en-IN" sz="2800" dirty="0"/>
          </a:p>
          <a:p>
            <a:r>
              <a:rPr lang="en-IN" sz="2800" dirty="0"/>
              <a:t>Module 5: </a:t>
            </a:r>
            <a:r>
              <a:rPr lang="en-IN" sz="2800" b="1" dirty="0"/>
              <a:t>Certificate Generation</a:t>
            </a:r>
          </a:p>
          <a:p>
            <a:r>
              <a:rPr lang="en-US" sz="2800" dirty="0"/>
              <a:t>Generates certificates automatically when a student completes all lessons and assessments in a course.</a:t>
            </a:r>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8279190"/>
          </a:xfrm>
          <a:prstGeom prst="rect">
            <a:avLst/>
          </a:prstGeom>
          <a:noFill/>
        </p:spPr>
        <p:txBody>
          <a:bodyPr wrap="square" rtlCol="0">
            <a:spAutoFit/>
          </a:bodyPr>
          <a:lstStyle/>
          <a:p>
            <a:pPr marL="457200" indent="-457200">
              <a:buFontTx/>
              <a:buChar char="-"/>
            </a:pPr>
            <a:r>
              <a:rPr lang="en-US" sz="2800" dirty="0"/>
              <a:t>(Add screenshots of:</a:t>
            </a:r>
          </a:p>
          <a:p>
            <a:pPr marL="457200" indent="-457200">
              <a:buFontTx/>
              <a:buChar char="-"/>
            </a:pPr>
            <a:r>
              <a:rPr lang="en-US" sz="2800" dirty="0"/>
              <a:t>Home page</a:t>
            </a:r>
          </a:p>
          <a:p>
            <a:pPr marL="457200" indent="-457200">
              <a:buFontTx/>
              <a:buChar char="-"/>
            </a:pPr>
            <a:r>
              <a:rPr lang="en-US" sz="2800" dirty="0"/>
              <a:t>Login page</a:t>
            </a:r>
          </a:p>
          <a:p>
            <a:pPr marL="457200" indent="-457200">
              <a:buFontTx/>
              <a:buChar char="-"/>
            </a:pPr>
            <a:r>
              <a:rPr lang="en-US" sz="2800" dirty="0"/>
              <a:t>Main module</a:t>
            </a:r>
          </a:p>
          <a:p>
            <a:pPr marL="457200" indent="-457200">
              <a:buFontTx/>
              <a:buChar char="-"/>
            </a:pPr>
            <a:r>
              <a:rPr lang="en-US" sz="2800" dirty="0"/>
              <a:t>Output page)</a:t>
            </a:r>
          </a:p>
          <a:p>
            <a:pPr marL="457200" indent="-457200">
              <a:buFontTx/>
              <a:buChar char="-"/>
            </a:pPr>
            <a:endParaRPr lang="en-US" sz="2800" dirty="0"/>
          </a:p>
          <a:p>
            <a:r>
              <a:rPr lang="en-US" sz="2800" dirty="0"/>
              <a:t>Explain each in 1–2 lines.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1998101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6678751"/>
          </a:xfrm>
          <a:prstGeom prst="rect">
            <a:avLst/>
          </a:prstGeom>
          <a:noFill/>
        </p:spPr>
        <p:txBody>
          <a:bodyPr wrap="square" rtlCol="0">
            <a:spAutoFit/>
          </a:bodyPr>
          <a:lstStyle/>
          <a:p>
            <a:r>
              <a:rPr lang="en-US" sz="3200" b="1" dirty="0"/>
              <a:t>Login page</a:t>
            </a:r>
          </a:p>
          <a:p>
            <a:endParaRPr lang="en-US" sz="3200" b="1"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86F8F491-5051-600F-3387-E0B453A2F1AE}"/>
              </a:ext>
            </a:extLst>
          </p:cNvPr>
          <p:cNvPicPr>
            <a:picLocks noChangeAspect="1"/>
          </p:cNvPicPr>
          <p:nvPr/>
        </p:nvPicPr>
        <p:blipFill>
          <a:blip r:embed="rId4"/>
          <a:stretch>
            <a:fillRect/>
          </a:stretch>
        </p:blipFill>
        <p:spPr>
          <a:xfrm>
            <a:off x="2637323" y="2475171"/>
            <a:ext cx="13624075" cy="6173529"/>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532453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Admin Home Page:</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E1273DF9-0E0F-8285-6196-71CDC5E53BF2}"/>
              </a:ext>
            </a:extLst>
          </p:cNvPr>
          <p:cNvPicPr>
            <a:picLocks noChangeAspect="1"/>
          </p:cNvPicPr>
          <p:nvPr/>
        </p:nvPicPr>
        <p:blipFill>
          <a:blip r:embed="rId4"/>
          <a:stretch>
            <a:fillRect/>
          </a:stretch>
        </p:blipFill>
        <p:spPr>
          <a:xfrm>
            <a:off x="2544278" y="2681227"/>
            <a:ext cx="13595665" cy="6577073"/>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3970318"/>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User home  page</a:t>
            </a:r>
            <a:r>
              <a:rPr lang="en-US" sz="2800" dirty="0"/>
              <a:t>:</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p:txBody>
      </p:sp>
      <p:pic>
        <p:nvPicPr>
          <p:cNvPr id="3" name="Picture 2">
            <a:extLst>
              <a:ext uri="{FF2B5EF4-FFF2-40B4-BE49-F238E27FC236}">
                <a16:creationId xmlns:a16="http://schemas.microsoft.com/office/drawing/2014/main" id="{15FDE57E-A7F6-14EF-C78A-AA06CC91527A}"/>
              </a:ext>
            </a:extLst>
          </p:cNvPr>
          <p:cNvPicPr>
            <a:picLocks noChangeAspect="1"/>
          </p:cNvPicPr>
          <p:nvPr/>
        </p:nvPicPr>
        <p:blipFill>
          <a:blip r:embed="rId4"/>
          <a:stretch>
            <a:fillRect/>
          </a:stretch>
        </p:blipFill>
        <p:spPr>
          <a:xfrm>
            <a:off x="2395171" y="2247899"/>
            <a:ext cx="13866227" cy="6934201"/>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8070835-D664-86A7-4D5A-795924E2E8E3}"/>
              </a:ext>
            </a:extLst>
          </p:cNvPr>
          <p:cNvSpPr txBox="1"/>
          <p:nvPr/>
        </p:nvSpPr>
        <p:spPr>
          <a:xfrm>
            <a:off x="2268010" y="2003377"/>
            <a:ext cx="14040852" cy="5262979"/>
          </a:xfrm>
          <a:prstGeom prst="rect">
            <a:avLst/>
          </a:prstGeom>
          <a:noFill/>
        </p:spPr>
        <p:txBody>
          <a:bodyPr wrap="square">
            <a:spAutoFit/>
          </a:bodyPr>
          <a:lstStyle/>
          <a:p>
            <a:pPr>
              <a:buNone/>
            </a:pPr>
            <a:r>
              <a:rPr lang="en-US" sz="2800" b="1" dirty="0"/>
              <a:t>Advantages</a:t>
            </a:r>
          </a:p>
          <a:p>
            <a:pPr>
              <a:buFont typeface="Arial" panose="020B0604020202020204" pitchFamily="34" charset="0"/>
              <a:buChar char="•"/>
            </a:pPr>
            <a:r>
              <a:rPr lang="en-US" sz="2800" dirty="0"/>
              <a:t>Easy access to courses anytime, anywhere</a:t>
            </a:r>
          </a:p>
          <a:p>
            <a:pPr>
              <a:buFont typeface="Arial" panose="020B0604020202020204" pitchFamily="34" charset="0"/>
              <a:buChar char="•"/>
            </a:pPr>
            <a:r>
              <a:rPr lang="en-US" sz="2800" dirty="0"/>
              <a:t>Organized learning materials (videos &amp; notes)</a:t>
            </a:r>
          </a:p>
          <a:p>
            <a:pPr>
              <a:buFont typeface="Arial" panose="020B0604020202020204" pitchFamily="34" charset="0"/>
              <a:buChar char="•"/>
            </a:pPr>
            <a:r>
              <a:rPr lang="en-US" sz="2800" dirty="0"/>
              <a:t>Automatic progress tracking</a:t>
            </a:r>
          </a:p>
          <a:p>
            <a:pPr>
              <a:buFont typeface="Arial" panose="020B0604020202020204" pitchFamily="34" charset="0"/>
              <a:buChar char="•"/>
            </a:pPr>
            <a:r>
              <a:rPr lang="en-US" sz="2800" dirty="0"/>
              <a:t>Simple course management for admin</a:t>
            </a:r>
          </a:p>
          <a:p>
            <a:pPr>
              <a:buFont typeface="Arial" panose="020B0604020202020204" pitchFamily="34" charset="0"/>
              <a:buChar char="•"/>
            </a:pPr>
            <a:r>
              <a:rPr lang="en-US" sz="2800" dirty="0"/>
              <a:t>Quiz and certificate support</a:t>
            </a:r>
          </a:p>
          <a:p>
            <a:pPr>
              <a:buNone/>
            </a:pPr>
            <a:r>
              <a:rPr lang="en-US" sz="2800" b="1" dirty="0"/>
              <a:t>Limitations</a:t>
            </a:r>
          </a:p>
          <a:p>
            <a:pPr>
              <a:buFont typeface="Arial" panose="020B0604020202020204" pitchFamily="34" charset="0"/>
              <a:buChar char="•"/>
            </a:pPr>
            <a:r>
              <a:rPr lang="en-US" sz="2800" dirty="0"/>
              <a:t>Requires internet connection</a:t>
            </a:r>
          </a:p>
          <a:p>
            <a:pPr>
              <a:buFont typeface="Arial" panose="020B0604020202020204" pitchFamily="34" charset="0"/>
              <a:buChar char="•"/>
            </a:pPr>
            <a:r>
              <a:rPr lang="en-US" sz="2800" dirty="0"/>
              <a:t>Limited offline access</a:t>
            </a:r>
          </a:p>
          <a:p>
            <a:pPr>
              <a:buFont typeface="Arial" panose="020B0604020202020204" pitchFamily="34" charset="0"/>
              <a:buChar char="•"/>
            </a:pPr>
            <a:r>
              <a:rPr lang="en-US" sz="2800" dirty="0"/>
              <a:t>Basic security features</a:t>
            </a:r>
          </a:p>
          <a:p>
            <a:pPr>
              <a:buFont typeface="Arial" panose="020B0604020202020204" pitchFamily="34" charset="0"/>
              <a:buChar char="•"/>
            </a:pPr>
            <a:r>
              <a:rPr lang="en-US" sz="2800" dirty="0"/>
              <a:t>Not optimized for very large users</a:t>
            </a:r>
          </a:p>
          <a:p>
            <a:pPr>
              <a:buFont typeface="Arial" panose="020B0604020202020204" pitchFamily="34" charset="0"/>
              <a:buChar char="•"/>
            </a:pPr>
            <a:r>
              <a:rPr lang="en-US" sz="2800" dirty="0"/>
              <a:t>Needs more advanced features in future</a:t>
            </a:r>
            <a:endParaRPr lang="en-US" dirty="0"/>
          </a:p>
        </p:txBody>
      </p:sp>
    </p:spTree>
    <p:extLst>
      <p:ext uri="{BB962C8B-B14F-4D97-AF65-F5344CB8AC3E}">
        <p14:creationId xmlns:p14="http://schemas.microsoft.com/office/powerpoint/2010/main" val="1838976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279</TotalTime>
  <Words>1102</Words>
  <Application>Microsoft Office PowerPoint</Application>
  <PresentationFormat>Custom</PresentationFormat>
  <Paragraphs>307</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Bookman Old Style</vt:lpstr>
      <vt:lpstr>Arial</vt:lpstr>
      <vt:lpstr>Calibri</vt:lpstr>
      <vt:lpstr>Times New Roman</vt:lpstr>
      <vt:lpstr>Cambria</vt:lpstr>
      <vt:lpstr>Gotham Bold Italics</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kamisetty ramesh</dc:creator>
  <cp:lastModifiedBy>Lekkala Tejaswini</cp:lastModifiedBy>
  <cp:revision>13</cp:revision>
  <dcterms:created xsi:type="dcterms:W3CDTF">2006-08-16T00:00:00Z</dcterms:created>
  <dcterms:modified xsi:type="dcterms:W3CDTF">2026-03-23T03:40:47Z</dcterms:modified>
  <dc:identifier>DAHCaYqJ9OU</dc:identifier>
</cp:coreProperties>
</file>